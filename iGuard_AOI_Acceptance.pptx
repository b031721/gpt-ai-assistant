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A8D6"/>
                </a:solidFill>
                <a:latin typeface="微軟正黑體"/>
              </a:rPr>
              <a:t>iGuard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微軟正黑體"/>
              </a:rPr>
              <a:t>AOI Inspection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7772400" cy="64008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軟正黑體"/>
              </a:rPr>
              <a:t>Prepreg &amp; CCL 材料瑕疵檢測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EEFF"/>
                </a:solidFill>
                <a:latin typeface="微軟正黑體"/>
              </a:rPr>
              <a:t>客戶驗收報告  Customer Acceptance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5029200" cy="6858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微軟正黑體"/>
              </a:rPr>
              <a:t>驗收日期  2026-06-07  ·  AOITEK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軟正黑體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軟正黑體"/>
              </a:rPr>
              <a:t>驗收議程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CCFF"/>
                </a:solidFill>
                <a:latin typeface="微軟正黑體"/>
              </a:rPr>
              <a:t>Acceptance 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709928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6093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微軟正黑體"/>
              </a:rPr>
              <a:t>系統介紹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029967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微軟正黑體"/>
              </a:rPr>
              <a:t>iGuard AOI 系統架構與功能說明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709928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16093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微軟正黑體"/>
              </a:rPr>
              <a:t>機台安裝確認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2029967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微軟正黑體"/>
              </a:rPr>
              <a:t>設備到場後安裝調試過程記錄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78608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578608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734056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6334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微軟正黑體"/>
              </a:rPr>
              <a:t>待測材料說明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305409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微軟正黑體"/>
              </a:rPr>
              <a:t>Prepreg / CCL 卷料樣品確認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578608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578608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734056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26334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微軟正黑體"/>
              </a:rPr>
              <a:t>上料與送料驗證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305409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微軟正黑體"/>
              </a:rPr>
              <a:t>卷料上料、張力控制、走料順暢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02736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602736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758184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3657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微軟正黑體"/>
              </a:rPr>
              <a:t>系統運行測試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0782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微軟正黑體"/>
              </a:rPr>
              <a:t>全速運行、AOI 掃描功能驗證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602736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602736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3758184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3657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微軟正黑體"/>
              </a:rPr>
              <a:t>缺陷檢測展示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40782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微軟正黑體"/>
              </a:rPr>
              <a:t>實際瑕疵影像與分類結果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626864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626864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4782312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" y="46817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微軟正黑體"/>
              </a:rPr>
              <a:t>軟體介面確認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" y="51023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微軟正黑體"/>
              </a:rPr>
              <a:t>HMI 操作介面、報表輸出確認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626864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4626864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7648" y="4782312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9168" y="468172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微軟正黑體"/>
              </a:rPr>
              <a:t>客戶審查討論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9168" y="51023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微軟正黑體"/>
              </a:rPr>
              <a:t>客戶意見紀錄與工程師說明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650992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5650992"/>
            <a:ext cx="658368" cy="8961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5806440"/>
            <a:ext cx="621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" y="570585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  <a:latin typeface="微軟正黑體"/>
              </a:rPr>
              <a:t>驗收結論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" y="61264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C4A"/>
                </a:solidFill>
                <a:latin typeface="微軟正黑體"/>
              </a:rPr>
              <a:t>通過項目 / 待改善項目 / 後續行動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微軟正黑體"/>
              </a:rPr>
              <a:t>iGuard AOI System  |  Prepreg &amp; CCL Acceptance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軟正黑體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軟正黑體"/>
              </a:rPr>
              <a:t>iGuard AOI 系統架構總覽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CCFF"/>
                </a:solidFill>
                <a:latin typeface="微軟正黑體"/>
              </a:rPr>
              <a:t>System Overview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0"/>
            <a:ext cx="4937760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77840" y="1600200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600200"/>
            <a:ext cx="1645920" cy="86868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6128" y="1783080"/>
            <a:ext cx="16093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軟正黑體"/>
              </a:rPr>
              <a:t>檢測對象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709928"/>
            <a:ext cx="4343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Prepreg 玻纖預浸布 / CCL 銅箔基板（卷料）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587752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77840" y="2587752"/>
            <a:ext cx="1645920" cy="868680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8" y="2770632"/>
            <a:ext cx="16093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軟正黑體"/>
              </a:rPr>
              <a:t>缺陷種類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697480"/>
            <a:ext cx="4343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異物、刮傷、凹坑、缺料、折痕、氣泡、邊緣不良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3575304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3575304"/>
            <a:ext cx="164592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3758184"/>
            <a:ext cx="16093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軟正黑體"/>
              </a:rPr>
              <a:t>掃描方式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685032"/>
            <a:ext cx="4343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線掃相機全幅掃描，逐行即時比對分析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4562856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77840" y="4562856"/>
            <a:ext cx="1645920" cy="868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96128" y="4745736"/>
            <a:ext cx="16093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軟正黑體"/>
              </a:rPr>
              <a:t>輸出功能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4672584"/>
            <a:ext cx="4343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即時標記、等級分類、報表匯出、AI 輔助判讀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5550408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77840" y="5550408"/>
            <a:ext cx="1645920" cy="86868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96128" y="5733288"/>
            <a:ext cx="16093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軟正黑體"/>
              </a:rPr>
              <a:t>系統品牌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5660136"/>
            <a:ext cx="4343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iGuard  ·  AOITEK Co., Ltd.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微軟正黑體"/>
              </a:rPr>
              <a:t>iGuard AOI System  |  Prepreg &amp; CCL Acceptance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軟正黑體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軟正黑體"/>
              </a:rPr>
              <a:t>機台安裝確認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CCFF"/>
                </a:solidFill>
                <a:latin typeface="微軟正黑體"/>
              </a:rPr>
              <a:t>Equipment Installation &amp; Setup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5486400" cy="2240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3749039"/>
            <a:ext cx="548640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37673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工程師確認機台結構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08760"/>
            <a:ext cx="5486400" cy="22402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63640" y="3749039"/>
            <a:ext cx="548640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37673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機台框架檢視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023360"/>
            <a:ext cx="5486400" cy="22402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0040" y="6263640"/>
            <a:ext cx="548640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62819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團隊協同組裝調試</a:t>
            </a:r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023360"/>
            <a:ext cx="5486400" cy="224028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263640" y="6263640"/>
            <a:ext cx="548640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79" y="62819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多人現場組裝確認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微軟正黑體"/>
              </a:rPr>
              <a:t>iGuard AOI System  |  Prepreg &amp; CCL 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軟正黑體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軟正黑體"/>
              </a:rPr>
              <a:t>待測材料確認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CCFF"/>
                </a:solidFill>
                <a:latin typeface="微軟正黑體"/>
              </a:rPr>
              <a:t>Test Material — Prepreg / CCL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539496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3977639"/>
            <a:ext cx="539496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99592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Prepreg 卷料（橄欖綠色，玻纖環氧預浸布）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315968"/>
            <a:ext cx="5394960" cy="20299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6345936"/>
            <a:ext cx="539496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36422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Prepreg 表面細節（可見輕微折痕瑕疵）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508760"/>
            <a:ext cx="58978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002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  <a:latin typeface="微軟正黑體"/>
              </a:rPr>
              <a:t>材料規格說明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103120"/>
            <a:ext cx="5897880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2286000"/>
            <a:ext cx="1600200" cy="56692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37744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材料類型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3774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Prepreg（半固化玻纖預浸布）/ CCL（銅箔基板）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971800"/>
            <a:ext cx="1600200" cy="56692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06324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供應廠商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0632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DOOSAN（東山）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657600"/>
            <a:ext cx="1600200" cy="56692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749039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外觀特徵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749039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卷料形式，橄欖綠 / 棕色，寬幅約 600mm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343400"/>
            <a:ext cx="1600200" cy="56692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443484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主要瑕疵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4348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折痕、表面刮傷、異物、凹坑、氣泡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5029200"/>
            <a:ext cx="1600200" cy="56692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512064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卷料尺寸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51206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依實際生產規格（含管芯重量）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5715000"/>
            <a:ext cx="1600200" cy="56692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580644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上機方式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58064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退卷軸固定＋張力控制器自動調節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微軟正黑體"/>
              </a:rPr>
              <a:t>iGuard AOI System  |  Prepreg &amp; CCL Acceptance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軟正黑體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軟正黑體"/>
              </a:rPr>
              <a:t>上料與送料驗證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CCFF"/>
                </a:solidFill>
                <a:latin typeface="微軟正黑體"/>
              </a:rPr>
              <a:t>Material Loading &amp; Feed Verification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8760"/>
            <a:ext cx="3749039" cy="4480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989320"/>
            <a:ext cx="3749039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007608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工程師人工上卷料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508760"/>
            <a:ext cx="3749039" cy="4480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51959" y="5989320"/>
            <a:ext cx="3749039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6007608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穿料進入送料滾輪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508760"/>
            <a:ext cx="3749039" cy="44805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229600" y="5989320"/>
            <a:ext cx="3749039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6007608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整機送料路徑確認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6355080"/>
            <a:ext cx="2240280" cy="36576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37336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① 卷料到場確認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6355080"/>
            <a:ext cx="2240280" cy="365760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79" y="637336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② 安裝退卷軸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6355080"/>
            <a:ext cx="2240280" cy="365760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637336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③ 穿帶引料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6355080"/>
            <a:ext cx="224028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637336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④ 張力設定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6355080"/>
            <a:ext cx="224028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637336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⑤ 試走確認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微軟正黑體"/>
              </a:rPr>
              <a:t>iGuard AOI System  |  Prepreg &amp; CCL Acceptance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軟正黑體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軟正黑體"/>
              </a:rPr>
              <a:t>系統運行與掃描驗證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CCFF"/>
                </a:solidFill>
                <a:latin typeface="微軟正黑體"/>
              </a:rPr>
              <a:t>System Operation &amp; Scanning Test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5394960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3840480"/>
            <a:ext cx="539496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8587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AOI 掃描主機運行中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87952"/>
            <a:ext cx="5394960" cy="2057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6245352"/>
            <a:ext cx="539496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2636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工程師現場確認掃描狀態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508760"/>
            <a:ext cx="58978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002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55"/>
                </a:solidFill>
                <a:latin typeface="微軟正黑體"/>
              </a:rPr>
              <a:t>運行驗證項目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103120"/>
            <a:ext cx="5897880" cy="45720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2240280"/>
            <a:ext cx="502920" cy="530352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31343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33172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機台啟動正常，無異常警報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898648"/>
            <a:ext cx="502920" cy="530352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971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99008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送料速度穩定，張力無抖動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557016"/>
            <a:ext cx="502920" cy="530352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6301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648456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線掃相機正常取像，畫面清晰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215384"/>
            <a:ext cx="502920" cy="530352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428853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306824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即時影像顯示流暢（≥30fps）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873752"/>
            <a:ext cx="502920" cy="530352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494690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96519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AOI 演算法正常載入與執行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5532120"/>
            <a:ext cx="502920" cy="530352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56052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62355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緊急停機（E-Stop）功能驗證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6190488"/>
            <a:ext cx="502920" cy="530352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62636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628192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電控箱接線整齊，無鬆脫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微軟正黑體"/>
              </a:rPr>
              <a:t>iGuard AOI System  |  Prepreg &amp; CCL Acceptance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軟正黑體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軟正黑體"/>
              </a:rPr>
              <a:t>缺陷檢測結果展示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CCFF"/>
                </a:solidFill>
                <a:latin typeface="微軟正黑體"/>
              </a:rPr>
              <a:t>Defect Detection Results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5577840" cy="5074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6583680"/>
            <a:ext cx="557784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軟正黑體"/>
              </a:rPr>
              <a:t>AOI 軟體即時顯示 CCL 掃描結果（瑕疵標記畫面）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715000" cy="59436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5532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軟正黑體"/>
              </a:rPr>
              <a:t>瑕疵分類結果  Defect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176272"/>
            <a:ext cx="5715000" cy="685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折痕  Crease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60" y="2267712"/>
            <a:ext cx="123444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228600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Grade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228600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C4A"/>
                </a:solidFill>
                <a:latin typeface="微軟正黑體"/>
              </a:rPr>
              <a:t>已檢出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889504"/>
            <a:ext cx="5715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99923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表面刮傷 Scratch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2980944"/>
            <a:ext cx="1234440" cy="47548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999232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Grade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299923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C4A"/>
                </a:solidFill>
                <a:latin typeface="微軟正黑體"/>
              </a:rPr>
              <a:t>已檢出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602736"/>
            <a:ext cx="5715000" cy="685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712463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凹坑   Dent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3694176"/>
            <a:ext cx="123444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3712463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Grade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3712463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C4A"/>
                </a:solidFill>
                <a:latin typeface="微軟正黑體"/>
              </a:rPr>
              <a:t>已檢出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315968"/>
            <a:ext cx="5715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42569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異物   Inclusion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60" y="4407407"/>
            <a:ext cx="1234440" cy="475488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4425696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Grade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442569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C4A"/>
                </a:solidFill>
                <a:latin typeface="微軟正黑體"/>
              </a:rPr>
              <a:t>已檢出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029200"/>
            <a:ext cx="5715000" cy="685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13892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邊緣不良 Edge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5120640"/>
            <a:ext cx="1234440" cy="475488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513892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Grade 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513892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C4A"/>
                </a:solidFill>
                <a:latin typeface="微軟正黑體"/>
              </a:rPr>
              <a:t>已檢出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5742432"/>
            <a:ext cx="5715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585216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C4A"/>
                </a:solidFill>
                <a:latin typeface="微軟正黑體"/>
              </a:rPr>
              <a:t>正常   Normal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81160" y="5833872"/>
            <a:ext cx="1234440" cy="475488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585216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58521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C4A"/>
                </a:solidFill>
                <a:latin typeface="微軟正黑體"/>
              </a:rPr>
              <a:t>正常通過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微軟正黑體"/>
              </a:rPr>
              <a:t>iGuard AOI System  |  Prepreg &amp; CCL Acceptance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軟正黑體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微軟正黑體"/>
              </a:rPr>
              <a:t>客戶審查與現場討論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CCFF"/>
                </a:solidFill>
                <a:latin typeface="微軟正黑體"/>
              </a:rPr>
              <a:t>Customer Review &amp; On-site Discussion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5486400" cy="2240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3749039"/>
            <a:ext cx="548640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37673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客戶與工程師聯合審查機台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08760"/>
            <a:ext cx="5486400" cy="22402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63640" y="3749039"/>
            <a:ext cx="548640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37673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現場討論機台配置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023360"/>
            <a:ext cx="5486400" cy="22402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0040" y="6263640"/>
            <a:ext cx="548640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62819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客戶代表確認細部機構</a:t>
            </a:r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023360"/>
            <a:ext cx="5486400" cy="224028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263640" y="6263640"/>
            <a:ext cx="5486400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79" y="62819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感測器與電控接線確認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微軟正黑體"/>
              </a:rPr>
              <a:t>iGuard AOI System  |  Prepreg &amp; CCL Acceptance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微軟正黑體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微軟正黑體"/>
              </a:rPr>
              <a:t>驗收結論  Acceptance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8D6"/>
                </a:solidFill>
                <a:latin typeface="微軟正黑體"/>
              </a:rPr>
              <a:t>iGuard AOI System  ·  Prepreg &amp; CCL Inspection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394960" cy="502920"/>
          </a:xfrm>
          <a:prstGeom prst="rect">
            <a:avLst/>
          </a:prstGeom>
          <a:solidFill>
            <a:srgbClr val="00C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✔  驗收通過項目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FFEE"/>
                </a:solidFill>
                <a:latin typeface="微軟正黑體"/>
              </a:rPr>
              <a:t>  ●  機台結構組裝完整，無鬆脫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779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FFEE"/>
                </a:solidFill>
                <a:latin typeface="微軟正黑體"/>
              </a:rPr>
              <a:t>  ●  卷料上料、送料流程順暢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958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FFEE"/>
                </a:solidFill>
                <a:latin typeface="微軟正黑體"/>
              </a:rPr>
              <a:t>  ●  AOI 線掃相機成像品質良好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5137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FFEE"/>
                </a:solidFill>
                <a:latin typeface="微軟正黑體"/>
              </a:rPr>
              <a:t>  ●  即時瑕疵檢測功能正常運作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7316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FFEE"/>
                </a:solidFill>
                <a:latin typeface="微軟正黑體"/>
              </a:rPr>
              <a:t>  ●  軟體 HMI 操作介面清楚易用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FFEE"/>
                </a:solidFill>
                <a:latin typeface="微軟正黑體"/>
              </a:rPr>
              <a:t>  ●  緊急停機功能驗證通過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91640"/>
            <a:ext cx="557784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⚡  後續行動項目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86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E0CC"/>
                </a:solidFill>
                <a:latin typeface="微軟正黑體"/>
              </a:rPr>
              <a:t>  →  確認最終驗收報告簽署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0779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E0CC"/>
                </a:solidFill>
                <a:latin typeface="微軟正黑體"/>
              </a:rPr>
              <a:t>  →  機台出廠前完整清潔包裝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52958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E0CC"/>
                </a:solidFill>
                <a:latin typeface="微軟正黑體"/>
              </a:rPr>
              <a:t>  →  提供操作訓練與保養手冊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15137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E0CC"/>
                </a:solidFill>
                <a:latin typeface="微軟正黑體"/>
              </a:rPr>
              <a:t>  →  安排安裝到廠時程確認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77316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E0CC"/>
                </a:solidFill>
                <a:latin typeface="微軟正黑體"/>
              </a:rPr>
              <a:t>  →  售後保固條款書面確認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400800"/>
            <a:ext cx="11430000" cy="36576"/>
          </a:xfrm>
          <a:prstGeom prst="rect">
            <a:avLst/>
          </a:prstGeom>
          <a:solidFill>
            <a:srgbClr val="00A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4465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CCFF"/>
                </a:solidFill>
                <a:latin typeface="微軟正黑體"/>
              </a:rPr>
              <a:t>Thank you  ·  感謝蒞臨驗收  ·  AOITEK Co., Ltd.  2026-06-07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