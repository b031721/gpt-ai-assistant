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6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jpg"/><Relationship Id="rId4" Type="http://schemas.openxmlformats.org/officeDocument/2006/relationships/image" Target="../media/image1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16.jpg"/><Relationship Id="rId4" Type="http://schemas.openxmlformats.org/officeDocument/2006/relationships/image" Target="../media/image17.jpg"/><Relationship Id="rId5" Type="http://schemas.openxmlformats.org/officeDocument/2006/relationships/image" Target="../media/image1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00A8D6"/>
                </a:solidFill>
                <a:latin typeface="Arial"/>
              </a:rPr>
              <a:t>iGuard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Arial"/>
              </a:rPr>
              <a:t>Automated Optical Inspection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331720"/>
            <a:ext cx="8229600" cy="64008"/>
          </a:xfrm>
          <a:prstGeom prst="rect">
            <a:avLst/>
          </a:prstGeom>
          <a:solidFill>
            <a:srgbClr val="00A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51460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Prepreg &amp; CCL Material Defect Inspection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2918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CCEEFF"/>
                </a:solidFill>
                <a:latin typeface="Arial"/>
              </a:rPr>
              <a:t>Customer Acceptance Review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069080"/>
            <a:ext cx="5486400" cy="640080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133087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Arial"/>
              </a:rPr>
              <a:t>Acceptance Date: 2026-06-07   |   AOITEK Co., Ltd.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51052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88952" cy="54864"/>
          </a:xfrm>
          <a:prstGeom prst="rect">
            <a:avLst/>
          </a:prstGeom>
          <a:solidFill>
            <a:srgbClr val="00A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Acceptance 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AACCFF"/>
                </a:solidFill>
                <a:latin typeface="Arial"/>
              </a:rPr>
              <a:t>Overview of Today's Review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55778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1A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554480"/>
            <a:ext cx="658368" cy="896112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709928"/>
            <a:ext cx="621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609344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2B55"/>
                </a:solidFill>
                <a:latin typeface="Arial"/>
              </a:rPr>
              <a:t>System Introduction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2029967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333C4A"/>
                </a:solidFill>
                <a:latin typeface="Arial"/>
              </a:rPr>
              <a:t>Architecture, functions, and specifications of iGuard AOI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554480"/>
            <a:ext cx="55778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1A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554480"/>
            <a:ext cx="658368" cy="896112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1709928"/>
            <a:ext cx="621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59168" y="1609344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2B55"/>
                </a:solidFill>
                <a:latin typeface="Arial"/>
              </a:rPr>
              <a:t>Machine Installation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9168" y="2029967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333C4A"/>
                </a:solidFill>
                <a:latin typeface="Arial"/>
              </a:rPr>
              <a:t>On-site installation, assembly, and setup verification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578608"/>
            <a:ext cx="55778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1A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2578608"/>
            <a:ext cx="658368" cy="896112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2734056"/>
            <a:ext cx="621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2633472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2B55"/>
                </a:solidFill>
                <a:latin typeface="Arial"/>
              </a:rPr>
              <a:t>Test Material Confirmation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3054096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333C4A"/>
                </a:solidFill>
                <a:latin typeface="Arial"/>
              </a:rPr>
              <a:t>Prepreg / CCL roll sample specification review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2578608"/>
            <a:ext cx="55778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1A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2578608"/>
            <a:ext cx="658368" cy="896112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27648" y="2734056"/>
            <a:ext cx="621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59168" y="2633472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2B55"/>
                </a:solidFill>
                <a:latin typeface="Arial"/>
              </a:rPr>
              <a:t>Material Loading &amp; Feed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59168" y="3054096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333C4A"/>
                </a:solidFill>
                <a:latin typeface="Arial"/>
              </a:rPr>
              <a:t>Roll loading, tension control, and feed path verification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602736"/>
            <a:ext cx="55778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1A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3602736"/>
            <a:ext cx="658368" cy="896112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4048" y="3758184"/>
            <a:ext cx="621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" y="365760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2B55"/>
                </a:solidFill>
                <a:latin typeface="Arial"/>
              </a:rPr>
              <a:t>System Operation Test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" y="4078224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333C4A"/>
                </a:solidFill>
                <a:latin typeface="Arial"/>
              </a:rPr>
              <a:t>Full-speed run, AOI scanning, and real-time processing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3602736"/>
            <a:ext cx="55778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1A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09360" y="3602736"/>
            <a:ext cx="658368" cy="896112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27648" y="3758184"/>
            <a:ext cx="621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59168" y="365760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2B55"/>
                </a:solidFill>
                <a:latin typeface="Arial"/>
              </a:rPr>
              <a:t>Defect Detection Demo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59168" y="4078224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333C4A"/>
                </a:solidFill>
                <a:latin typeface="Arial"/>
              </a:rPr>
              <a:t>Live defect images, classification, and grading results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4626864"/>
            <a:ext cx="55778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1A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65760" y="4626864"/>
            <a:ext cx="658368" cy="896112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4048" y="4782312"/>
            <a:ext cx="621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07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5568" y="4681728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2B55"/>
                </a:solidFill>
                <a:latin typeface="Arial"/>
              </a:rPr>
              <a:t>Software Interface Review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5568" y="5102352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333C4A"/>
                </a:solidFill>
                <a:latin typeface="Arial"/>
              </a:rPr>
              <a:t>HMI operations, reporting, and data export functions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09360" y="4626864"/>
            <a:ext cx="55778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1A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09360" y="4626864"/>
            <a:ext cx="658368" cy="896112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27648" y="4782312"/>
            <a:ext cx="621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08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59168" y="4681728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2B55"/>
                </a:solidFill>
                <a:latin typeface="Arial"/>
              </a:rPr>
              <a:t>Customer Discussion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59168" y="5102352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333C4A"/>
                </a:solidFill>
                <a:latin typeface="Arial"/>
              </a:rPr>
              <a:t>Customer feedback, Q&amp;A, and engineer responses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5650992"/>
            <a:ext cx="55778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1A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65760" y="5650992"/>
            <a:ext cx="658368" cy="896112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84048" y="5806440"/>
            <a:ext cx="621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09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15568" y="5705856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2B55"/>
                </a:solidFill>
                <a:latin typeface="Arial"/>
              </a:rPr>
              <a:t>Acceptance Conclusion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15568" y="6126480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333C4A"/>
                </a:solidFill>
                <a:latin typeface="Arial"/>
              </a:rPr>
              <a:t>Passed items / Action items / Next steps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65105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CC"/>
                </a:solidFill>
                <a:latin typeface="Arial"/>
              </a:rPr>
              <a:t>iGuard AOI System  |  Prepreg &amp; CCL Acceptance Review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972800" y="651052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88952" cy="54864"/>
          </a:xfrm>
          <a:prstGeom prst="rect">
            <a:avLst/>
          </a:prstGeom>
          <a:solidFill>
            <a:srgbClr val="00A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iGuard AOI — System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AACCFF"/>
                </a:solidFill>
                <a:latin typeface="Arial"/>
              </a:rPr>
              <a:t>Architecture &amp; Capabilities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554480"/>
            <a:ext cx="4937760" cy="47548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577840" y="1600200"/>
            <a:ext cx="6217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600200"/>
            <a:ext cx="1737360" cy="868680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6128" y="1783080"/>
            <a:ext cx="17007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Inspection Target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1709928"/>
            <a:ext cx="4297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C4A"/>
                </a:solidFill>
                <a:latin typeface="Arial"/>
              </a:rPr>
              <a:t>Prepreg (glass-fiber prepreg rolls) / CCL (copper-clad laminate)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77840" y="2587752"/>
            <a:ext cx="6217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C2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577840" y="2587752"/>
            <a:ext cx="1737360" cy="868680"/>
          </a:xfrm>
          <a:prstGeom prst="rect">
            <a:avLst/>
          </a:prstGeom>
          <a:solidFill>
            <a:srgbClr val="00C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96128" y="2770632"/>
            <a:ext cx="17007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Defect Types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2697480"/>
            <a:ext cx="4297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C4A"/>
                </a:solidFill>
                <a:latin typeface="Arial"/>
              </a:rPr>
              <a:t>Foreign matter, scratch, dent, void, crease, bubble, edge defect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77840" y="3575304"/>
            <a:ext cx="6217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2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577840" y="3575304"/>
            <a:ext cx="1737360" cy="8686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96128" y="3758184"/>
            <a:ext cx="17007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Scanning Method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3685032"/>
            <a:ext cx="4297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C4A"/>
                </a:solidFill>
                <a:latin typeface="Arial"/>
              </a:rPr>
              <a:t>Full-width line-scan camera with real-time row-by-row comparison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77840" y="4562856"/>
            <a:ext cx="6217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577840" y="4562856"/>
            <a:ext cx="1737360" cy="8686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96128" y="4745736"/>
            <a:ext cx="17007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Output Functions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4672584"/>
            <a:ext cx="4297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C4A"/>
                </a:solidFill>
                <a:latin typeface="Arial"/>
              </a:rPr>
              <a:t>Live marking, defect grading, report export, AI-assisted review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577840" y="5550408"/>
            <a:ext cx="6217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577840" y="5550408"/>
            <a:ext cx="1737360" cy="868680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96128" y="5733288"/>
            <a:ext cx="17007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System Brand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5660136"/>
            <a:ext cx="4297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C4A"/>
                </a:solidFill>
                <a:latin typeface="Arial"/>
              </a:rPr>
              <a:t>iGuard  ·  AOITEK Co., Ltd.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5105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CC"/>
                </a:solidFill>
                <a:latin typeface="Arial"/>
              </a:rPr>
              <a:t>iGuard AOI System  |  Prepreg &amp; CCL Acceptance 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51052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88952" cy="54864"/>
          </a:xfrm>
          <a:prstGeom prst="rect">
            <a:avLst/>
          </a:prstGeom>
          <a:solidFill>
            <a:srgbClr val="00A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Machine Installation &amp;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AACCFF"/>
                </a:solidFill>
                <a:latin typeface="Arial"/>
              </a:rPr>
              <a:t>Equipment Assembly Verification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508760"/>
            <a:ext cx="5486400" cy="22402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20040" y="3749039"/>
            <a:ext cx="5486400" cy="25603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3767328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Arial"/>
              </a:rPr>
              <a:t>Engineer inspecting machine frame structure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508760"/>
            <a:ext cx="5486400" cy="224028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263640" y="3749039"/>
            <a:ext cx="5486400" cy="25603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79" y="3767328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Arial"/>
              </a:rPr>
              <a:t>Machine framework visual inspection</a:t>
            </a:r>
          </a:p>
        </p:txBody>
      </p:sp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4023360"/>
            <a:ext cx="5486400" cy="224028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320040" y="6263640"/>
            <a:ext cx="5486400" cy="25603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79" y="6281928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Arial"/>
              </a:rPr>
              <a:t>Team collaborative assembly and calibration</a:t>
            </a:r>
          </a:p>
        </p:txBody>
      </p:sp>
      <p:pic>
        <p:nvPicPr>
          <p:cNvPr id="16" name="Picture 15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4023360"/>
            <a:ext cx="5486400" cy="224028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6263640" y="6263640"/>
            <a:ext cx="5486400" cy="25603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79" y="6281928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Arial"/>
              </a:rPr>
              <a:t>Multi-person on-site assembly verification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65105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CC"/>
                </a:solidFill>
                <a:latin typeface="Arial"/>
              </a:rPr>
              <a:t>iGuard AOI System  |  Prepreg &amp; CCL Acceptance 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51052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88952" cy="54864"/>
          </a:xfrm>
          <a:prstGeom prst="rect">
            <a:avLst/>
          </a:prstGeom>
          <a:solidFill>
            <a:srgbClr val="00A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Test Material Confirmation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AACCFF"/>
                </a:solidFill>
                <a:latin typeface="Arial"/>
              </a:rPr>
              <a:t>Prepreg / CCL Roll Sample Review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508760"/>
            <a:ext cx="5394960" cy="24688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20040" y="3977639"/>
            <a:ext cx="5394960" cy="25603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3995928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Arial"/>
              </a:rPr>
              <a:t>Prepreg roll (olive-green, glass-fiber epoxy prepreg)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4315968"/>
            <a:ext cx="5394960" cy="202996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20040" y="6345936"/>
            <a:ext cx="5394960" cy="25603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6364224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Arial"/>
              </a:rPr>
              <a:t>Prepreg surface detail (visible crease / minor defect)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89320" y="1508760"/>
            <a:ext cx="5897880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600200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2B55"/>
                </a:solidFill>
                <a:latin typeface="Arial"/>
              </a:rPr>
              <a:t>Material Specifications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89320" y="2103120"/>
            <a:ext cx="5897880" cy="54864"/>
          </a:xfrm>
          <a:prstGeom prst="rect">
            <a:avLst/>
          </a:prstGeom>
          <a:solidFill>
            <a:srgbClr val="00A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2286000"/>
            <a:ext cx="1691640" cy="566928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2377440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Material Type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23774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C4A"/>
                </a:solidFill>
                <a:latin typeface="Arial"/>
              </a:rPr>
              <a:t>Prepreg (glass-fiber epoxy prepreg) / CCL (copper-clad laminate)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2971800"/>
            <a:ext cx="1691640" cy="566928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80760" y="3063240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Supplier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30632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C4A"/>
                </a:solidFill>
                <a:latin typeface="Arial"/>
              </a:rPr>
              <a:t>DOOSAN Corporation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3657600"/>
            <a:ext cx="1691640" cy="566928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80760" y="3749039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Appearance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18120" y="3749039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C4A"/>
                </a:solidFill>
                <a:latin typeface="Arial"/>
              </a:rPr>
              <a:t>Roll form, olive-green / brown, width approx. 600 mm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4343400"/>
            <a:ext cx="1691640" cy="566928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80760" y="4434840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Key Defects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8120" y="44348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C4A"/>
                </a:solidFill>
                <a:latin typeface="Arial"/>
              </a:rPr>
              <a:t>Crease, surface scratch, foreign matter, dent, bubble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5029200"/>
            <a:ext cx="1691640" cy="566928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80760" y="5120640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Roll Dimension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18120" y="51206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C4A"/>
                </a:solidFill>
                <a:latin typeface="Arial"/>
              </a:rPr>
              <a:t>Per production spec (including core weight)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35040" y="5715000"/>
            <a:ext cx="1691640" cy="566928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80760" y="5806440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Loading Method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18120" y="58064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C4A"/>
                </a:solidFill>
                <a:latin typeface="Arial"/>
              </a:rPr>
              <a:t>Unwind spindle with automatic tension controller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" y="65105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CC"/>
                </a:solidFill>
                <a:latin typeface="Arial"/>
              </a:rPr>
              <a:t>iGuard AOI System  |  Prepreg &amp; CCL Acceptance Review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51052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88952" cy="54864"/>
          </a:xfrm>
          <a:prstGeom prst="rect">
            <a:avLst/>
          </a:prstGeom>
          <a:solidFill>
            <a:srgbClr val="00A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Material Loading &amp; Feed Verification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AACCFF"/>
                </a:solidFill>
                <a:latin typeface="Arial"/>
              </a:rPr>
              <a:t>Roll Threading and Feed Path Confirmation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08760"/>
            <a:ext cx="3749039" cy="44805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74320" y="5989320"/>
            <a:ext cx="3749039" cy="25603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007608"/>
            <a:ext cx="3566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Arial"/>
              </a:rPr>
              <a:t>Engineer manually mounting the roll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59" y="1508760"/>
            <a:ext cx="3749039" cy="448056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251959" y="5989320"/>
            <a:ext cx="3749039" cy="25603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399" y="6007608"/>
            <a:ext cx="3566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Arial"/>
              </a:rPr>
              <a:t>Threading material through the feed rollers</a:t>
            </a:r>
          </a:p>
        </p:txBody>
      </p:sp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1508760"/>
            <a:ext cx="3749039" cy="448056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8229600" y="5989320"/>
            <a:ext cx="3749039" cy="25603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6007608"/>
            <a:ext cx="3566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Arial"/>
              </a:rPr>
              <a:t>Full machine feed path confirmed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6355080"/>
            <a:ext cx="2240280" cy="365760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6373368"/>
            <a:ext cx="2148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① Confirm Roll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51760" y="6355080"/>
            <a:ext cx="2240280" cy="365760"/>
          </a:xfrm>
          <a:prstGeom prst="rect">
            <a:avLst/>
          </a:prstGeom>
          <a:solidFill>
            <a:srgbClr val="00A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97479" y="6373368"/>
            <a:ext cx="2148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② Mount Spindle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0" y="6355080"/>
            <a:ext cx="2240280" cy="365760"/>
          </a:xfrm>
          <a:prstGeom prst="rect">
            <a:avLst/>
          </a:prstGeom>
          <a:solidFill>
            <a:srgbClr val="00C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74920" y="6373368"/>
            <a:ext cx="2148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③ Thread Material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06640" y="6355080"/>
            <a:ext cx="2240280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52360" y="6373368"/>
            <a:ext cx="2148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④ Set Tension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784080" y="6355080"/>
            <a:ext cx="2240280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29800" y="6373368"/>
            <a:ext cx="2148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⑤ Trial Run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65105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CC"/>
                </a:solidFill>
                <a:latin typeface="Arial"/>
              </a:rPr>
              <a:t>iGuard AOI System  |  Prepreg &amp; CCL Acceptance 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51052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88952" cy="54864"/>
          </a:xfrm>
          <a:prstGeom prst="rect">
            <a:avLst/>
          </a:prstGeom>
          <a:solidFill>
            <a:srgbClr val="00A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System Operation &amp; Scanning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AACCFF"/>
                </a:solidFill>
                <a:latin typeface="Arial"/>
              </a:rPr>
              <a:t>Functional Verification Checklist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508760"/>
            <a:ext cx="5394960" cy="23317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20040" y="3840480"/>
            <a:ext cx="5394960" cy="25603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3858768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Arial"/>
              </a:rPr>
              <a:t>AOI scanning unit in operation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4187952"/>
            <a:ext cx="5394960" cy="20574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20040" y="6245352"/>
            <a:ext cx="5394960" cy="25603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6263640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Arial"/>
              </a:rPr>
              <a:t>Engineer verifying scan status on-site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89320" y="1508760"/>
            <a:ext cx="5897880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C2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600200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2B55"/>
                </a:solidFill>
                <a:latin typeface="Arial"/>
              </a:rPr>
              <a:t>Verification Checklist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89320" y="2103120"/>
            <a:ext cx="5897880" cy="45720"/>
          </a:xfrm>
          <a:prstGeom prst="rect">
            <a:avLst/>
          </a:prstGeom>
          <a:solidFill>
            <a:srgbClr val="00C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2240280"/>
            <a:ext cx="502920" cy="530352"/>
          </a:xfrm>
          <a:prstGeom prst="rect">
            <a:avLst/>
          </a:prstGeom>
          <a:solidFill>
            <a:srgbClr val="00C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2313432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2331720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C4A"/>
                </a:solidFill>
                <a:latin typeface="Arial"/>
              </a:rPr>
              <a:t>Machine startup normal — no fault alarms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2898648"/>
            <a:ext cx="502920" cy="530352"/>
          </a:xfrm>
          <a:prstGeom prst="rect">
            <a:avLst/>
          </a:prstGeom>
          <a:solidFill>
            <a:srgbClr val="00C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40" y="297180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2990088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C4A"/>
                </a:solidFill>
                <a:latin typeface="Arial"/>
              </a:rPr>
              <a:t>Feed speed stable — no tension fluctuation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3557016"/>
            <a:ext cx="502920" cy="530352"/>
          </a:xfrm>
          <a:prstGeom prst="rect">
            <a:avLst/>
          </a:prstGeom>
          <a:solidFill>
            <a:srgbClr val="00C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0" y="363016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3648456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C4A"/>
                </a:solidFill>
                <a:latin typeface="Arial"/>
              </a:rPr>
              <a:t>Line-scan camera imaging clear and sharp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4215384"/>
            <a:ext cx="502920" cy="530352"/>
          </a:xfrm>
          <a:prstGeom prst="rect">
            <a:avLst/>
          </a:prstGeom>
          <a:solidFill>
            <a:srgbClr val="00C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40" y="4288536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4306824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C4A"/>
                </a:solidFill>
                <a:latin typeface="Arial"/>
              </a:rPr>
              <a:t>Real-time display smooth (≥ 30 fps)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4873752"/>
            <a:ext cx="502920" cy="530352"/>
          </a:xfrm>
          <a:prstGeom prst="rect">
            <a:avLst/>
          </a:prstGeom>
          <a:solidFill>
            <a:srgbClr val="00C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40" y="4946904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4965192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C4A"/>
                </a:solidFill>
                <a:latin typeface="Arial"/>
              </a:rPr>
              <a:t>AOI algorithm loaded and running correctly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35040" y="5532120"/>
            <a:ext cx="502920" cy="530352"/>
          </a:xfrm>
          <a:prstGeom prst="rect">
            <a:avLst/>
          </a:prstGeom>
          <a:solidFill>
            <a:srgbClr val="00C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35040" y="5605272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5623559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C4A"/>
                </a:solidFill>
                <a:latin typeface="Arial"/>
              </a:rPr>
              <a:t>Emergency stop (E-Stop) function verified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35040" y="6190488"/>
            <a:ext cx="502920" cy="530352"/>
          </a:xfrm>
          <a:prstGeom prst="rect">
            <a:avLst/>
          </a:prstGeom>
          <a:solidFill>
            <a:srgbClr val="00C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5040" y="626364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29400" y="6281928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C4A"/>
                </a:solidFill>
                <a:latin typeface="Arial"/>
              </a:rPr>
              <a:t>Control cabinet wiring neat — no loose connections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" y="65105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CC"/>
                </a:solidFill>
                <a:latin typeface="Arial"/>
              </a:rPr>
              <a:t>iGuard AOI System  |  Prepreg &amp; CCL Acceptance Review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51052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88952" cy="54864"/>
          </a:xfrm>
          <a:prstGeom prst="rect">
            <a:avLst/>
          </a:prstGeom>
          <a:solidFill>
            <a:srgbClr val="00A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Defect Detection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AACCFF"/>
                </a:solidFill>
                <a:latin typeface="Arial"/>
              </a:rPr>
              <a:t>Live AOI Output — Defect Classification &amp; Grading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508760"/>
            <a:ext cx="5577840" cy="50749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20040" y="6583680"/>
            <a:ext cx="5577840" cy="25603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601968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AOI software displaying real-time CCL scan results with defect marking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508760"/>
            <a:ext cx="5715000" cy="594360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581912"/>
            <a:ext cx="5532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</a:rPr>
              <a:t>Defect Classification Results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2176272"/>
            <a:ext cx="5715000" cy="6858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2286000"/>
            <a:ext cx="2926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C4A"/>
                </a:solidFill>
                <a:latin typeface="Arial"/>
              </a:rPr>
              <a:t>Crease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81160" y="2267712"/>
            <a:ext cx="1234440" cy="47548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81160" y="2286000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Grade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2286000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C4A"/>
                </a:solidFill>
                <a:latin typeface="Arial"/>
              </a:rPr>
              <a:t>Detected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2889504"/>
            <a:ext cx="57150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2999232"/>
            <a:ext cx="2926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C4A"/>
                </a:solidFill>
                <a:latin typeface="Arial"/>
              </a:rPr>
              <a:t>Surface Scratch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81160" y="2980944"/>
            <a:ext cx="1234440" cy="475488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60" y="2999232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Grade 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2999232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C4A"/>
                </a:solidFill>
                <a:latin typeface="Arial"/>
              </a:rPr>
              <a:t>Detected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3602736"/>
            <a:ext cx="5715000" cy="6858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3712463"/>
            <a:ext cx="2926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C4A"/>
                </a:solidFill>
                <a:latin typeface="Arial"/>
              </a:rPr>
              <a:t>Dent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81160" y="3694176"/>
            <a:ext cx="1234440" cy="47548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81160" y="3712463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Grade 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3712463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C4A"/>
                </a:solidFill>
                <a:latin typeface="Arial"/>
              </a:rPr>
              <a:t>Detected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72200" y="4315968"/>
            <a:ext cx="57150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4425696"/>
            <a:ext cx="2926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C4A"/>
                </a:solidFill>
                <a:latin typeface="Arial"/>
              </a:rPr>
              <a:t>Foreign Matter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281160" y="4407407"/>
            <a:ext cx="1234440" cy="475488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81160" y="4425696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Grade 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4425696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C4A"/>
                </a:solidFill>
                <a:latin typeface="Arial"/>
              </a:rPr>
              <a:t>Detected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72200" y="5029200"/>
            <a:ext cx="5715000" cy="6858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63640" y="5138928"/>
            <a:ext cx="2926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C4A"/>
                </a:solidFill>
                <a:latin typeface="Arial"/>
              </a:rPr>
              <a:t>Edge Defect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281160" y="5120640"/>
            <a:ext cx="1234440" cy="475488"/>
          </a:xfrm>
          <a:prstGeom prst="rect">
            <a:avLst/>
          </a:prstGeom>
          <a:solidFill>
            <a:srgbClr val="00C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81160" y="5138928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Grade 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07040" y="5138928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C4A"/>
                </a:solidFill>
                <a:latin typeface="Arial"/>
              </a:rPr>
              <a:t>Detected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72200" y="5742432"/>
            <a:ext cx="57150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63640" y="5852160"/>
            <a:ext cx="2926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C4A"/>
                </a:solidFill>
                <a:latin typeface="Arial"/>
              </a:rPr>
              <a:t>Normal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281160" y="5833872"/>
            <a:ext cx="1234440" cy="475488"/>
          </a:xfrm>
          <a:prstGeom prst="rect">
            <a:avLst/>
          </a:prstGeom>
          <a:solidFill>
            <a:srgbClr val="00C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81160" y="5852160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PASS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07040" y="5852160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C4A"/>
                </a:solidFill>
                <a:latin typeface="Arial"/>
              </a:rPr>
              <a:t>Passed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" y="65105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CC"/>
                </a:solidFill>
                <a:latin typeface="Arial"/>
              </a:rPr>
              <a:t>iGuard AOI System  |  Prepreg &amp; CCL Acceptance Review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51052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88952" cy="54864"/>
          </a:xfrm>
          <a:prstGeom prst="rect">
            <a:avLst/>
          </a:prstGeom>
          <a:solidFill>
            <a:srgbClr val="00A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Customer Review &amp; On-site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AACCFF"/>
                </a:solidFill>
                <a:latin typeface="Arial"/>
              </a:rPr>
              <a:t>Joint Inspection Walkthrough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508760"/>
            <a:ext cx="5486400" cy="22402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20040" y="3749039"/>
            <a:ext cx="5486400" cy="25603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3767328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Arial"/>
              </a:rPr>
              <a:t>Customer and engineers conduct joint machine review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508760"/>
            <a:ext cx="5486400" cy="224028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263640" y="3749039"/>
            <a:ext cx="5486400" cy="25603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79" y="3767328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Arial"/>
              </a:rPr>
              <a:t>On-site discussion of machine configuration</a:t>
            </a:r>
          </a:p>
        </p:txBody>
      </p:sp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4023360"/>
            <a:ext cx="5486400" cy="224028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320040" y="6263640"/>
            <a:ext cx="5486400" cy="25603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79" y="6281928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Arial"/>
              </a:rPr>
              <a:t>Customer representative examines mechanical details</a:t>
            </a:r>
          </a:p>
        </p:txBody>
      </p:sp>
      <p:pic>
        <p:nvPicPr>
          <p:cNvPr id="16" name="Picture 15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4023360"/>
            <a:ext cx="5486400" cy="224028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6263640" y="6263640"/>
            <a:ext cx="5486400" cy="25603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79" y="6281928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Arial"/>
              </a:rPr>
              <a:t>Sensor and electrical wiring verification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65105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CC"/>
                </a:solidFill>
                <a:latin typeface="Arial"/>
              </a:rPr>
              <a:t>iGuard AOI System  |  Prepreg &amp; CCL Acceptance 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51052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A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A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Arial"/>
              </a:rPr>
              <a:t>Acceptance 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00A8D6"/>
                </a:solidFill>
                <a:latin typeface="Arial"/>
              </a:rPr>
              <a:t>iGuard AOI System  ·  Prepreg &amp; CCL Inspection  ·  2026-06-07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45920"/>
            <a:ext cx="5394960" cy="502920"/>
          </a:xfrm>
          <a:prstGeom prst="rect">
            <a:avLst/>
          </a:prstGeom>
          <a:solidFill>
            <a:srgbClr val="00C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91640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✔  Items Accepted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67712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FFEE"/>
                </a:solidFill>
                <a:latin typeface="Arial"/>
              </a:rPr>
              <a:t>  ●  Machine structure assembled correctly, no loose parts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89504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FFEE"/>
                </a:solidFill>
                <a:latin typeface="Arial"/>
              </a:rPr>
              <a:t>  ●  Roll loading and material feed path smooth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511296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FFEE"/>
                </a:solidFill>
                <a:latin typeface="Arial"/>
              </a:rPr>
              <a:t>  ●  Line-scan camera image quality confirmed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33087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FFEE"/>
                </a:solidFill>
                <a:latin typeface="Arial"/>
              </a:rPr>
              <a:t>  ●  Real-time defect detection functioning properly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5488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FFEE"/>
                </a:solidFill>
                <a:latin typeface="Arial"/>
              </a:rPr>
              <a:t>  ●  HMI software interface clear and operable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376672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FFEE"/>
                </a:solidFill>
                <a:latin typeface="Arial"/>
              </a:rPr>
              <a:t>  ●  Emergency stop (E-Stop) function verified and passed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645920"/>
            <a:ext cx="5577840" cy="5029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691640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⚡  Action Items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267712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E0CC"/>
                </a:solidFill>
                <a:latin typeface="Arial"/>
              </a:rPr>
              <a:t>  →  Sign and finalize the acceptance report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889504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E0CC"/>
                </a:solidFill>
                <a:latin typeface="Arial"/>
              </a:rPr>
              <a:t>  →  Complete machine cleaning and packaging before shipment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3511296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E0CC"/>
                </a:solidFill>
                <a:latin typeface="Arial"/>
              </a:rPr>
              <a:t>  →  Provide operation training and maintenance manual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4133087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E0CC"/>
                </a:solidFill>
                <a:latin typeface="Arial"/>
              </a:rPr>
              <a:t>  →  Confirm on-site installation schedule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75488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E0CC"/>
                </a:solidFill>
                <a:latin typeface="Arial"/>
              </a:rPr>
              <a:t>  →  Finalize after-sales warranty terms in writing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6446520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ACCFF"/>
                </a:solidFill>
                <a:latin typeface="Arial"/>
              </a:rPr>
              <a:t>Thank you for your participation  ·  AOITEK Co., Ltd.  ·  2026-06-07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