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3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88952" cy="73152"/>
          </a:xfrm>
          <a:prstGeom prst="rect">
            <a:avLst/>
          </a:prstGeom>
          <a:solidFill>
            <a:srgbClr val="E89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微軟正黑體"/>
              </a:rPr>
              <a:t>恩賜 VS. 才幹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E89B0F"/>
                </a:solidFill>
                <a:latin typeface="微軟正黑體"/>
              </a:rPr>
              <a:t>認識神的恩典與人的天賦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ACCFF"/>
                </a:solidFill>
                <a:latin typeface="微軟正黑體"/>
              </a:rPr>
              <a:t>彼前 4:10  ·  太 25:21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99AACC"/>
                </a:solidFill>
                <a:latin typeface="微軟正黑體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2C3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微軟正黑體"/>
              </a:rPr>
              <a:t>一、恩賜 VS. 才幹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DDFF"/>
                </a:solidFill>
                <a:latin typeface="微軟正黑體"/>
              </a:rPr>
              <a:t>概覽：兩者的核心對比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5120640" cy="4206240"/>
          </a:xfrm>
          <a:prstGeom prst="rect">
            <a:avLst/>
          </a:prstGeom>
          <a:solidFill>
            <a:srgbClr val="2C3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</a:rPr>
              <a:t>🎁  恩賜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微軟正黑體"/>
              </a:rPr>
              <a:t>• 聖靈賜下的超自然能力
• 為建立教會、榮耀神
• 因信心與聖靈而運作
• 彼前 4:10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320040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C3E7B"/>
                </a:solidFill>
                <a:latin typeface="微軟正黑體"/>
              </a:rPr>
              <a:t>VS.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5120640" cy="4206240"/>
          </a:xfrm>
          <a:prstGeom prst="rect">
            <a:avLst/>
          </a:prstGeom>
          <a:solidFill>
            <a:srgbClr val="D47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9202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</a:rPr>
              <a:t>🏅  才幹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65176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微軟正黑體"/>
              </a:rPr>
              <a:t>• 天生或後天培養的能力
• 可在信徒與非信徒中見
• 需要練習與努力
• 太 25:21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C3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  <a:latin typeface="微軟正黑體"/>
              </a:rPr>
              <a:t>2 /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492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  <a:latin typeface="微軟正黑體"/>
              </a:rPr>
              <a:t>恩賜 VS. 才幹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2C3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微軟正黑體"/>
              </a:rPr>
              <a:t>什麼是恩賜？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DDFF"/>
                </a:solidFill>
                <a:latin typeface="微軟正黑體"/>
              </a:rPr>
              <a:t>Spiritual Gifts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1247120" cy="1280160"/>
          </a:xfrm>
          <a:prstGeom prst="rect">
            <a:avLst/>
          </a:prstGeom>
          <a:solidFill>
            <a:srgbClr val="2C3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軟正黑體"/>
              </a:rPr>
              <a:t>各人要照所得的恩賜彼此服事，作神百般恩賜的好管家。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E89B0F"/>
                </a:solidFill>
                <a:latin typeface="微軟正黑體"/>
              </a:rPr>
              <a:t>彼得前書 4:10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1828800" cy="548640"/>
          </a:xfrm>
          <a:prstGeom prst="rect">
            <a:avLst/>
          </a:prstGeom>
          <a:solidFill>
            <a:srgbClr val="2C3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154679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定義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154679"/>
            <a:ext cx="9235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  <a:latin typeface="微軟正黑體"/>
              </a:rPr>
              <a:t>聖靈賜給每位信徒特別的能力，用來服事神的家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1828800" cy="548640"/>
          </a:xfrm>
          <a:prstGeom prst="rect">
            <a:avLst/>
          </a:prstGeom>
          <a:solidFill>
            <a:srgbClr val="2C3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8862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來源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86200"/>
            <a:ext cx="9235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  <a:latin typeface="微軟正黑體"/>
              </a:rPr>
              <a:t>來自聖靈，非人力可取，是神主動賜下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572000"/>
            <a:ext cx="1828800" cy="548640"/>
          </a:xfrm>
          <a:prstGeom prst="rect">
            <a:avLst/>
          </a:prstGeom>
          <a:solidFill>
            <a:srgbClr val="2C3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6177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目的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4617720"/>
            <a:ext cx="9235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  <a:latin typeface="微軟正黑體"/>
              </a:rPr>
              <a:t>建立基督的身體（教會），使萬民認識神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303520"/>
            <a:ext cx="1828800" cy="548640"/>
          </a:xfrm>
          <a:prstGeom prst="rect">
            <a:avLst/>
          </a:prstGeom>
          <a:solidFill>
            <a:srgbClr val="2C3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34924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運作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5349240"/>
            <a:ext cx="9235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  <a:latin typeface="微軟正黑體"/>
              </a:rPr>
              <a:t>透過信心順服聖靈，超越自身能力的限制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C3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0" y="64922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  <a:latin typeface="微軟正黑體"/>
              </a:rPr>
              <a:t>3 / 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492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  <a:latin typeface="微軟正黑體"/>
              </a:rPr>
              <a:t>恩賜 VS. 才幹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2C3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微軟正黑體"/>
              </a:rPr>
              <a:t>常見的屬靈恩賜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DDFF"/>
                </a:solidFill>
                <a:latin typeface="微軟正黑體"/>
              </a:rPr>
              <a:t>林前 12  ·  羅 12  ·  弗 4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5486400" cy="1005840"/>
          </a:xfrm>
          <a:prstGeom prst="rect">
            <a:avLst/>
          </a:prstGeom>
          <a:solidFill>
            <a:srgbClr val="2C3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9B0F"/>
                </a:solidFill>
                <a:latin typeface="微軟正黑體"/>
              </a:rPr>
              <a:t>先知講道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微軟正黑體"/>
              </a:rPr>
              <a:t>傳達神的信息，勸勉、安慰、造就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691640"/>
            <a:ext cx="5486400" cy="1005840"/>
          </a:xfrm>
          <a:prstGeom prst="rect">
            <a:avLst/>
          </a:prstGeom>
          <a:solidFill>
            <a:srgbClr val="2C3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373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9B0F"/>
                </a:solidFill>
                <a:latin typeface="微軟正黑體"/>
              </a:rPr>
              <a:t>服事幫助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488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微軟正黑體"/>
              </a:rPr>
              <a:t>實際行動服事他人需要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80360"/>
            <a:ext cx="5486400" cy="1005840"/>
          </a:xfrm>
          <a:prstGeom prst="rect">
            <a:avLst/>
          </a:prstGeom>
          <a:solidFill>
            <a:srgbClr val="2C3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9260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9B0F"/>
                </a:solidFill>
                <a:latin typeface="微軟正黑體"/>
              </a:rPr>
              <a:t>教導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33756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微軟正黑體"/>
              </a:rPr>
              <a:t>清晰解釋並傳授聖經真理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880360"/>
            <a:ext cx="5486400" cy="1005840"/>
          </a:xfrm>
          <a:prstGeom prst="rect">
            <a:avLst/>
          </a:prstGeom>
          <a:solidFill>
            <a:srgbClr val="2C3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9260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9B0F"/>
                </a:solidFill>
                <a:latin typeface="微軟正黑體"/>
              </a:rPr>
              <a:t>勸慰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33756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微軟正黑體"/>
              </a:rPr>
              <a:t>鼓勵他人靈命成長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069080"/>
            <a:ext cx="5486400" cy="1005840"/>
          </a:xfrm>
          <a:prstGeom prst="rect">
            <a:avLst/>
          </a:prstGeom>
          <a:solidFill>
            <a:srgbClr val="2C3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1148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9B0F"/>
                </a:solidFill>
                <a:latin typeface="微軟正黑體"/>
              </a:rPr>
              <a:t>施捨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2628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微軟正黑體"/>
              </a:rPr>
              <a:t>慷慨奉獻，供應他人所需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069080"/>
            <a:ext cx="5486400" cy="1005840"/>
          </a:xfrm>
          <a:prstGeom prst="rect">
            <a:avLst/>
          </a:prstGeom>
          <a:solidFill>
            <a:srgbClr val="2C3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1148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9B0F"/>
                </a:solidFill>
                <a:latin typeface="微軟正黑體"/>
              </a:rPr>
              <a:t>治理領導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52628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微軟正黑體"/>
              </a:rPr>
              <a:t>帶領、組織、管理事工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257800"/>
            <a:ext cx="5486400" cy="1005840"/>
          </a:xfrm>
          <a:prstGeom prst="rect">
            <a:avLst/>
          </a:prstGeom>
          <a:solidFill>
            <a:srgbClr val="2C3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3035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9B0F"/>
                </a:solidFill>
                <a:latin typeface="微軟正黑體"/>
              </a:rPr>
              <a:t>憐憫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7150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微軟正黑體"/>
              </a:rPr>
              <a:t>以同理心關懷受苦的人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5257800"/>
            <a:ext cx="5486400" cy="1005840"/>
          </a:xfrm>
          <a:prstGeom prst="rect">
            <a:avLst/>
          </a:prstGeom>
          <a:solidFill>
            <a:srgbClr val="2C3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53035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9B0F"/>
                </a:solidFill>
                <a:latin typeface="微軟正黑體"/>
              </a:rPr>
              <a:t>信心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7150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微軟正黑體"/>
              </a:rPr>
              <a:t>對神有超越常人的信靠與委身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C3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0" y="64922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  <a:latin typeface="微軟正黑體"/>
              </a:rPr>
              <a:t>4 / 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492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  <a:latin typeface="微軟正黑體"/>
              </a:rPr>
              <a:t>恩賜 VS. 才幹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D47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微軟正黑體"/>
              </a:rPr>
              <a:t>什麼是才幹？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DDFF"/>
                </a:solidFill>
                <a:latin typeface="微軟正黑體"/>
              </a:rPr>
              <a:t>Talents &amp; Natural Abilities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1247120" cy="1828800"/>
          </a:xfrm>
          <a:prstGeom prst="rect">
            <a:avLst/>
          </a:prstGeom>
          <a:solidFill>
            <a:srgbClr val="D47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軟正黑體"/>
              </a:rPr>
              <a:t>主人說：好，你這又良善又忠心的僕人，
你在不多的事上有忠心，我要把許多事派你管理；
可以進來享受你主人的快樂。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3383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D47E0A"/>
                </a:solidFill>
                <a:latin typeface="微軟正黑體"/>
              </a:rPr>
              <a:t>馬太福音 25:21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77639"/>
            <a:ext cx="1828800" cy="502920"/>
          </a:xfrm>
          <a:prstGeom prst="rect">
            <a:avLst/>
          </a:prstGeom>
          <a:solidFill>
            <a:srgbClr val="D47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023359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定義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4023359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微軟正黑體"/>
              </a:rPr>
              <a:t>神創造時賦予每人天生的能力，或後天習得的技能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572000"/>
            <a:ext cx="1828800" cy="502920"/>
          </a:xfrm>
          <a:prstGeom prst="rect">
            <a:avLst/>
          </a:prstGeom>
          <a:solidFill>
            <a:srgbClr val="D47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6177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來源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4617720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微軟正黑體"/>
              </a:rPr>
              <a:t>來自神的創造，信徒與非信徒皆可擁有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166359"/>
            <a:ext cx="1828800" cy="502920"/>
          </a:xfrm>
          <a:prstGeom prst="rect">
            <a:avLst/>
          </a:prstGeom>
          <a:solidFill>
            <a:srgbClr val="D47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212079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目的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5212079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微軟正黑體"/>
              </a:rPr>
              <a:t>在世上盡本分，忠心管理神所給的一切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60720"/>
            <a:ext cx="1828800" cy="502920"/>
          </a:xfrm>
          <a:prstGeom prst="rect">
            <a:avLst/>
          </a:prstGeom>
          <a:solidFill>
            <a:srgbClr val="D47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8064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特點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5806440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微軟正黑體"/>
              </a:rPr>
              <a:t>需要培育、練習，在努力中逐漸成熟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C3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0" y="64922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  <a:latin typeface="微軟正黑體"/>
              </a:rPr>
              <a:t>5 / 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492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  <a:latin typeface="微軟正黑體"/>
              </a:rPr>
              <a:t>恩賜 VS. 才幹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D47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微軟正黑體"/>
              </a:rPr>
              <a:t>才幹的種類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DDFF"/>
                </a:solidFill>
                <a:latin typeface="微軟正黑體"/>
              </a:rPr>
              <a:t>各人都有不同的天賦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3566160" cy="1920240"/>
          </a:xfrm>
          <a:prstGeom prst="rect">
            <a:avLst/>
          </a:prstGeom>
          <a:solidFill>
            <a:srgbClr val="D47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軟正黑體"/>
              </a:rPr>
              <a:t>🎨  藝術創作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微軟正黑體"/>
              </a:rPr>
              <a:t>音樂、繪畫、設計、寫作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691640"/>
            <a:ext cx="3566160" cy="1920240"/>
          </a:xfrm>
          <a:prstGeom prst="rect">
            <a:avLst/>
          </a:prstGeom>
          <a:solidFill>
            <a:srgbClr val="D47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8288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軟正黑體"/>
              </a:rPr>
              <a:t>📊  分析思考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4688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微軟正黑體"/>
              </a:rPr>
              <a:t>數學、邏輯、研究、策略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691640"/>
            <a:ext cx="3566160" cy="1920240"/>
          </a:xfrm>
          <a:prstGeom prst="rect">
            <a:avLst/>
          </a:prstGeom>
          <a:solidFill>
            <a:srgbClr val="D47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8288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軟正黑體"/>
              </a:rPr>
              <a:t>🗣️  溝通表達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4688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微軟正黑體"/>
              </a:rPr>
              <a:t>演講、談判、教學、語言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977639"/>
            <a:ext cx="3566160" cy="1920240"/>
          </a:xfrm>
          <a:prstGeom prst="rect">
            <a:avLst/>
          </a:prstGeom>
          <a:solidFill>
            <a:srgbClr val="D47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1148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軟正黑體"/>
              </a:rPr>
              <a:t>🤝  人際關係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54879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微軟正黑體"/>
              </a:rPr>
              <a:t>同理心、領導、輔導、調解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3977639"/>
            <a:ext cx="3566160" cy="1920240"/>
          </a:xfrm>
          <a:prstGeom prst="rect">
            <a:avLst/>
          </a:prstGeom>
          <a:solidFill>
            <a:srgbClr val="D47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41148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軟正黑體"/>
              </a:rPr>
              <a:t>🔧  技術操作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754879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微軟正黑體"/>
              </a:rPr>
              <a:t>工程、建造、編程、手藝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3977639"/>
            <a:ext cx="3566160" cy="1920240"/>
          </a:xfrm>
          <a:prstGeom prst="rect">
            <a:avLst/>
          </a:prstGeom>
          <a:solidFill>
            <a:srgbClr val="D47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41148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軟正黑體"/>
              </a:rPr>
              <a:t>🌱  組織管理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754879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微軟正黑體"/>
              </a:rPr>
              <a:t>計劃、行政、協調、時間管理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C3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0" y="64922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  <a:latin typeface="微軟正黑體"/>
              </a:rPr>
              <a:t>6 /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492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  <a:latin typeface="微軟正黑體"/>
              </a:rPr>
              <a:t>恩賜 VS. 才幹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2C3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微軟正黑體"/>
              </a:rPr>
              <a:t>恩賜 vs. 才幹 — 比較表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00200"/>
            <a:ext cx="2743200" cy="594360"/>
          </a:xfrm>
          <a:prstGeom prst="rect">
            <a:avLst/>
          </a:prstGeom>
          <a:solidFill>
            <a:srgbClr val="2C3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62763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面向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1600200"/>
            <a:ext cx="4297680" cy="594360"/>
          </a:xfrm>
          <a:prstGeom prst="rect">
            <a:avLst/>
          </a:prstGeom>
          <a:solidFill>
            <a:srgbClr val="2C3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54679" y="1627632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恩賜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1600200"/>
            <a:ext cx="4297680" cy="594360"/>
          </a:xfrm>
          <a:prstGeom prst="rect">
            <a:avLst/>
          </a:prstGeom>
          <a:solidFill>
            <a:srgbClr val="D47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1627632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才幹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2743200" cy="731520"/>
          </a:xfrm>
          <a:prstGeom prst="rect">
            <a:avLst/>
          </a:prstGeom>
          <a:solidFill>
            <a:srgbClr val="DD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377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C3E7B"/>
                </a:solidFill>
                <a:latin typeface="微軟正黑體"/>
              </a:rPr>
              <a:t>來源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2286000"/>
            <a:ext cx="429768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23774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E7B"/>
                </a:solidFill>
                <a:latin typeface="微軟正黑體"/>
              </a:rPr>
              <a:t>聖靈直接賜下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9" y="2286000"/>
            <a:ext cx="429768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19" y="23774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B5000"/>
                </a:solidFill>
                <a:latin typeface="微軟正黑體"/>
              </a:rPr>
              <a:t>神創造 / 後天培養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063240"/>
            <a:ext cx="2743200" cy="731520"/>
          </a:xfrm>
          <a:prstGeom prst="rect">
            <a:avLst/>
          </a:prstGeom>
          <a:solidFill>
            <a:srgbClr val="DD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154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C3E7B"/>
                </a:solidFill>
                <a:latin typeface="微軟正黑體"/>
              </a:rPr>
              <a:t>對象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3063240"/>
            <a:ext cx="4297680" cy="731520"/>
          </a:xfrm>
          <a:prstGeom prst="rect">
            <a:avLst/>
          </a:prstGeom>
          <a:solidFill>
            <a:srgbClr val="E2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0" y="31546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E7B"/>
                </a:solidFill>
                <a:latin typeface="微軟正黑體"/>
              </a:rPr>
              <a:t>只有信徒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79" y="3063240"/>
            <a:ext cx="4297680" cy="731520"/>
          </a:xfrm>
          <a:prstGeom prst="rect">
            <a:avLst/>
          </a:prstGeom>
          <a:solidFill>
            <a:srgbClr val="E2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19" y="31546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B5000"/>
                </a:solidFill>
                <a:latin typeface="微軟正黑體"/>
              </a:rPr>
              <a:t>信徒與非信徒皆有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840480"/>
            <a:ext cx="2743200" cy="731520"/>
          </a:xfrm>
          <a:prstGeom prst="rect">
            <a:avLst/>
          </a:prstGeom>
          <a:solidFill>
            <a:srgbClr val="DD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9319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C3E7B"/>
                </a:solidFill>
                <a:latin typeface="微軟正黑體"/>
              </a:rPr>
              <a:t>目的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8960" y="3840480"/>
            <a:ext cx="429768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0" y="39319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E7B"/>
                </a:solidFill>
                <a:latin typeface="微軟正黑體"/>
              </a:rPr>
              <a:t>建立教會、榮耀神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79" y="3840480"/>
            <a:ext cx="429768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19" y="39319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B5000"/>
                </a:solidFill>
                <a:latin typeface="微軟正黑體"/>
              </a:rPr>
              <a:t>在世盡職、忠心管理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617720"/>
            <a:ext cx="2743200" cy="731520"/>
          </a:xfrm>
          <a:prstGeom prst="rect">
            <a:avLst/>
          </a:prstGeom>
          <a:solidFill>
            <a:srgbClr val="DD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70915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C3E7B"/>
                </a:solidFill>
                <a:latin typeface="微軟正黑體"/>
              </a:rPr>
              <a:t>運作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08960" y="4617720"/>
            <a:ext cx="4297680" cy="731520"/>
          </a:xfrm>
          <a:prstGeom prst="rect">
            <a:avLst/>
          </a:prstGeom>
          <a:solidFill>
            <a:srgbClr val="E2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0" y="4709159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E7B"/>
                </a:solidFill>
                <a:latin typeface="微軟正黑體"/>
              </a:rPr>
              <a:t>藉信心與聖靈能力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79" y="4617720"/>
            <a:ext cx="4297680" cy="731520"/>
          </a:xfrm>
          <a:prstGeom prst="rect">
            <a:avLst/>
          </a:prstGeom>
          <a:solidFill>
            <a:srgbClr val="E2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19" y="4709159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B5000"/>
                </a:solidFill>
                <a:latin typeface="微軟正黑體"/>
              </a:rPr>
              <a:t>藉努力與練習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394960"/>
            <a:ext cx="2743200" cy="731520"/>
          </a:xfrm>
          <a:prstGeom prst="rect">
            <a:avLst/>
          </a:prstGeom>
          <a:solidFill>
            <a:srgbClr val="DD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54864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C3E7B"/>
                </a:solidFill>
                <a:latin typeface="微軟正黑體"/>
              </a:rPr>
              <a:t>聖經根據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08960" y="5394960"/>
            <a:ext cx="429768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0" y="54864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E7B"/>
                </a:solidFill>
                <a:latin typeface="微軟正黑體"/>
              </a:rPr>
              <a:t>彼前 4:10  林前 12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79" y="5394960"/>
            <a:ext cx="429768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89519" y="54864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B5000"/>
                </a:solidFill>
                <a:latin typeface="微軟正黑體"/>
              </a:rPr>
              <a:t>太 25:14-30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C3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789920" y="64922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  <a:latin typeface="微軟正黑體"/>
              </a:rPr>
              <a:t>7 / 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6492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  <a:latin typeface="微軟正黑體"/>
              </a:rPr>
              <a:t>恩賜 VS. 才幹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2C3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微軟正黑體"/>
              </a:rPr>
              <a:t>如何發現您的恩賜？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DDFF"/>
                </a:solidFill>
                <a:latin typeface="微軟正黑體"/>
              </a:rPr>
              <a:t>四個實踐步驟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822960" cy="822960"/>
          </a:xfrm>
          <a:prstGeom prst="rect">
            <a:avLst/>
          </a:prstGeom>
          <a:solidFill>
            <a:srgbClr val="2C3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73736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微軟正黑體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1691640"/>
            <a:ext cx="10515600" cy="822960"/>
          </a:xfrm>
          <a:prstGeom prst="rect">
            <a:avLst/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C3E7B"/>
                </a:solidFill>
                <a:latin typeface="微軟正黑體"/>
              </a:rPr>
              <a:t>禱告求問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78308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微軟正黑體"/>
              </a:rPr>
              <a:t>誠心向神禱告，求聖靈啟示你的恩賜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880360"/>
            <a:ext cx="822960" cy="822960"/>
          </a:xfrm>
          <a:prstGeom prst="rect">
            <a:avLst/>
          </a:prstGeom>
          <a:solidFill>
            <a:srgbClr val="2C3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92608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微軟正黑體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80160" y="2880360"/>
            <a:ext cx="10515600" cy="822960"/>
          </a:xfrm>
          <a:prstGeom prst="rect">
            <a:avLst/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C3E7B"/>
                </a:solidFill>
                <a:latin typeface="微軟正黑體"/>
              </a:rPr>
              <a:t>嘗試事奉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97180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微軟正黑體"/>
              </a:rPr>
              <a:t>積極參與教會各項事工，親身體驗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069080"/>
            <a:ext cx="822960" cy="822960"/>
          </a:xfrm>
          <a:prstGeom prst="rect">
            <a:avLst/>
          </a:prstGeom>
          <a:solidFill>
            <a:srgbClr val="2C3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11480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微軟正黑體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0160" y="4069080"/>
            <a:ext cx="10515600" cy="822960"/>
          </a:xfrm>
          <a:prstGeom prst="rect">
            <a:avLst/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1732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C3E7B"/>
                </a:solidFill>
                <a:latin typeface="微軟正黑體"/>
              </a:rPr>
              <a:t>尋求確認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416052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微軟正黑體"/>
              </a:rPr>
              <a:t>從他人的回饋與肯定中辨別恩賜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257800"/>
            <a:ext cx="822960" cy="822960"/>
          </a:xfrm>
          <a:prstGeom prst="rect">
            <a:avLst/>
          </a:prstGeom>
          <a:solidFill>
            <a:srgbClr val="2C3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30352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微軟正黑體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80160" y="5257800"/>
            <a:ext cx="10515600" cy="822960"/>
          </a:xfrm>
          <a:prstGeom prst="rect">
            <a:avLst/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1732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C3E7B"/>
                </a:solidFill>
                <a:latin typeface="微軟正黑體"/>
              </a:rPr>
              <a:t>結果驗證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534924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微軟正黑體"/>
              </a:rPr>
              <a:t>觀察事奉是否有果效，並感到喜悅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6400800"/>
            <a:ext cx="11430000" cy="18288"/>
          </a:xfrm>
          <a:prstGeom prst="rect">
            <a:avLst/>
          </a:prstGeom>
          <a:solidFill>
            <a:srgbClr val="2C3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C3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20" y="64922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  <a:latin typeface="微軟正黑體"/>
              </a:rPr>
              <a:t>8 / 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492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  <a:latin typeface="微軟正黑體"/>
              </a:rPr>
              <a:t>恩賜 VS. 才幹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2C3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微軟正黑體"/>
              </a:rPr>
              <a:t>如何使用恩賜與才幹事奉？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DDFF"/>
                </a:solidFill>
                <a:latin typeface="微軟正黑體"/>
              </a:rPr>
              <a:t>忠心管理神所賜的一切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5577840" cy="2103120"/>
          </a:xfrm>
          <a:prstGeom prst="rect">
            <a:avLst/>
          </a:prstGeom>
          <a:solidFill>
            <a:srgbClr val="2C3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軟正黑體"/>
              </a:rPr>
              <a:t>謙遜使用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7744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微軟正黑體"/>
              </a:rPr>
              <a:t>恩賜是神所賜，非個人榮耀。以謙卑服事，一切榮耀歸主。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691640"/>
            <a:ext cx="5577840" cy="2103120"/>
          </a:xfrm>
          <a:prstGeom prst="rect">
            <a:avLst/>
          </a:prstGeom>
          <a:solidFill>
            <a:srgbClr val="D47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8308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軟正黑體"/>
              </a:rPr>
              <a:t>彼此配搭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7744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微軟正黑體"/>
              </a:rPr>
              <a:t>每人的恩賜各有不同，互補不足，如身體的各個肢體。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023360"/>
            <a:ext cx="5577840" cy="2103120"/>
          </a:xfrm>
          <a:prstGeom prst="rect">
            <a:avLst/>
          </a:prstGeom>
          <a:solidFill>
            <a:srgbClr val="2C3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1148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軟正黑體"/>
              </a:rPr>
              <a:t>持續操練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70916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微軟正黑體"/>
              </a:rPr>
              <a:t>才幹需要鍛鍊，恩賜需要使用，才能在神國度發揮最大影響。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4023360"/>
            <a:ext cx="5577840" cy="2103120"/>
          </a:xfrm>
          <a:prstGeom prst="rect">
            <a:avLst/>
          </a:prstGeom>
          <a:solidFill>
            <a:srgbClr val="D47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1148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軟正黑體"/>
              </a:rPr>
              <a:t>愛為根基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70916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微軟正黑體"/>
              </a:rPr>
              <a:t>林前 13：即使有各樣恩賜，若沒有愛，也是徒然。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C3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0" y="64922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  <a:latin typeface="微軟正黑體"/>
              </a:rPr>
              <a:t>9 /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492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  <a:latin typeface="微軟正黑體"/>
              </a:rPr>
              <a:t>恩賜 VS. 才幹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3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E89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E89B0F"/>
                </a:solidFill>
                <a:latin typeface="微軟正黑體"/>
              </a:rPr>
              <a:t>結語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2926080"/>
          </a:xfrm>
          <a:prstGeom prst="rect">
            <a:avLst/>
          </a:prstGeom>
          <a:solidFill>
            <a:srgbClr val="1A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332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微軟正黑體"/>
              </a:rPr>
              <a:t>恩賜是聖靈主動賜給信徒，為建立教會而用；
才幹是神創造時賦予每人，需要培育與忠心使用。
兩者都是神的禮物，都當為神的榮耀而使用，
在愛中彼此服事，作神百般恩賜的好管家。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480560"/>
            <a:ext cx="5120640" cy="1097280"/>
          </a:xfrm>
          <a:prstGeom prst="rect">
            <a:avLst/>
          </a:prstGeom>
          <a:solidFill>
            <a:srgbClr val="3A5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52628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微軟正黑體"/>
              </a:rPr>
              <a:t>「各人要照所得的恩賜
彼此服事。」
彼前 4:10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4480560"/>
            <a:ext cx="5120640" cy="1097280"/>
          </a:xfrm>
          <a:prstGeom prst="rect">
            <a:avLst/>
          </a:prstGeom>
          <a:solidFill>
            <a:srgbClr val="D47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52628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微軟正黑體"/>
              </a:rPr>
              <a:t>「你這又良善又忠心的
僕人……」
太 25:21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88AACC"/>
                </a:solidFill>
                <a:latin typeface="微軟正黑體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